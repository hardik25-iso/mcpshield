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MCPShield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 multi-agent runtime firewall for MCP-connected AI agents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Enterprises connect AI agents to tools via MCP servers.</a:t>
            </a:r>
          </a:p>
          <a:p>
            <a:pPr>
              <a:defRPr sz="1800"/>
            </a:pPr>
            <a:r>
              <a:t>The agent trusts tool metadata and tool outputs as context.</a:t>
            </a:r>
          </a:p>
          <a:p>
            <a:pPr>
              <a:defRPr sz="1800"/>
            </a:pPr>
            <a:r>
              <a:t>A malicious/compromised MCP server can hijack the agent:</a:t>
            </a:r>
          </a:p>
          <a:p>
            <a:pPr>
              <a:defRPr sz="1800"/>
            </a:pPr>
            <a:r>
              <a:t>  poisoning, shadowing, rug pulls, indirect injection, split payloads, exfiltration.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Existing challenge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Today: manual tool review and static allowlists.</a:t>
            </a:r>
          </a:p>
          <a:p>
            <a:pPr>
              <a:defRPr sz="1800"/>
            </a:pPr>
            <a:r>
              <a:t>Misses hidden instructions and split payloads.</a:t>
            </a:r>
          </a:p>
          <a:p>
            <a:pPr>
              <a:defRPr sz="1800"/>
            </a:pPr>
            <a:r>
              <a:t>Cannot see rug pulls (trusted tool changes later).</a:t>
            </a:r>
          </a:p>
          <a:p>
            <a:pPr>
              <a:defRPr sz="1800"/>
            </a:pPr>
            <a:r>
              <a:t>Misses runtime attacks (injection in outputs, tainted arguments).</a:t>
            </a:r>
          </a:p>
          <a:p>
            <a:pPr>
              <a:defRPr sz="1800"/>
            </a:pPr>
            <a:r>
              <a:t>No audit trail for compliance.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Proposed 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A transparent proxy between the host agent and MCP servers.</a:t>
            </a:r>
          </a:p>
          <a:p>
            <a:pPr>
              <a:defRPr sz="1800"/>
            </a:pPr>
            <a:r>
              <a:t>Every MCP event flows through a LangGraph multi-agent pipeline.</a:t>
            </a:r>
          </a:p>
          <a:p>
            <a:pPr>
              <a:defRPr sz="1800"/>
            </a:pPr>
            <a:r>
              <a:t>Decides ALLOW / SANITIZE / BLOCK / ESCALATE with an explanation.</a:t>
            </a:r>
          </a:p>
          <a:p>
            <a:pPr>
              <a:defRPr sz="1800"/>
            </a:pPr>
            <a:r>
              <a:t>Hash-pins tools, scans with RAG over a threat KB, enforces policy, tracks taint.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Agent roles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Orchestrator - Planner, utility-based (fast vs deep path).</a:t>
            </a:r>
          </a:p>
          <a:p>
            <a:pPr>
              <a:defRPr sz="1800"/>
            </a:pPr>
            <a:r>
              <a:t>Registry Auditor - Research, model-based (hash pinning, rug-pull, RAG).</a:t>
            </a:r>
          </a:p>
          <a:p>
            <a:pPr>
              <a:defRPr sz="1800"/>
            </a:pPr>
            <a:r>
              <a:t>Intent Verifier - goal-based (policy, sensitive data, taint).</a:t>
            </a:r>
          </a:p>
          <a:p>
            <a:pPr>
              <a:defRPr sz="1800"/>
            </a:pPr>
            <a:r>
              <a:t>Output Sanitizer - reflex + LLM (injection in outputs).</a:t>
            </a:r>
          </a:p>
          <a:p>
            <a:pPr>
              <a:defRPr sz="1800"/>
            </a:pPr>
            <a:r>
              <a:t>Critic - utility-based (risk aggregation, self-consistency, guardrail).</a:t>
            </a:r>
          </a:p>
          <a:p>
            <a:pPr>
              <a:defRPr sz="1800"/>
            </a:pPr>
            <a:r>
              <a:t>Auditor - monitoring (audit log, explainability).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Orchestration 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Perception: proxy turns MCP traffic into events.</a:t>
            </a:r>
          </a:p>
          <a:p>
            <a:pPr>
              <a:defRPr sz="1800"/>
            </a:pPr>
            <a:r>
              <a:t>Reasoning: plan -&gt; rule detectors -&gt; (grey-zone) LLM judge -&gt; Critic.</a:t>
            </a:r>
          </a:p>
          <a:p>
            <a:pPr>
              <a:defRPr sz="1800"/>
            </a:pPr>
            <a:r>
              <a:t>Fast path for clear cases; deep path only in the grey zone (latency/risk trade-off).</a:t>
            </a:r>
          </a:p>
          <a:p>
            <a:pPr>
              <a:defRPr sz="1800"/>
            </a:pPr>
            <a:r>
              <a:t>Action: proxy applies the decision; Auditor records it.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System diagram (see docs/architecture.md for the Mermaid source).</a:t>
            </a:r>
          </a:p>
          <a:p>
            <a:pPr>
              <a:defRPr sz="1800"/>
            </a:pPr>
            <a:r>
              <a:t>(figure architecture_system.png not found; run make eval &amp;&amp; make figures)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Results: attack success rate</a:t>
            </a:r>
          </a:p>
        </p:txBody>
      </p:sp>
      <p:pic>
        <p:nvPicPr>
          <p:cNvPr id="3" name="Picture 2" descr="asr_by_confi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463040"/>
            <a:ext cx="7863840" cy="4368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6309360"/>
            <a:ext cx="7863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ASR drops from the shield-OFF baseline to near zero.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Results: per-class ASR</a:t>
            </a:r>
          </a:p>
        </p:txBody>
      </p:sp>
      <p:pic>
        <p:nvPicPr>
          <p:cNvPr id="3" name="Picture 2" descr="asr_per_cla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463040"/>
            <a:ext cx="7863840" cy="4368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6309360"/>
            <a:ext cx="7863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Per attack class, across ablations.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Results: false positives</a:t>
            </a:r>
          </a:p>
        </p:txBody>
      </p:sp>
      <p:pic>
        <p:nvPicPr>
          <p:cNvPr id="3" name="Picture 2" descr="fpr_by_confi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463040"/>
            <a:ext cx="7863840" cy="4368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6309360"/>
            <a:ext cx="7863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FPR on benign tasks stays low.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Results: added latency</a:t>
            </a:r>
          </a:p>
        </p:txBody>
      </p:sp>
      <p:pic>
        <p:nvPicPr>
          <p:cNvPr id="3" name="Picture 2" descr="latenc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463040"/>
            <a:ext cx="7863840" cy="4368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6309360"/>
            <a:ext cx="7863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Deep path adds latency only in the grey zone.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Validation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Deterministic mock backend: reproducible, offline, worst-case obedient agent.</a:t>
            </a:r>
          </a:p>
          <a:p>
            <a:pPr>
              <a:defRPr sz="1800"/>
            </a:pPr>
            <a:r>
              <a:t>Shield-OFF ASR is 100% by construction; the result is the drop with the shield on.</a:t>
            </a:r>
          </a:p>
          <a:p>
            <a:pPr>
              <a:defRPr sz="1800"/>
            </a:pPr>
            <a:r>
              <a:t>Ground truth from side effects (ledger, outbox, exfil sink); results are order-independent.</a:t>
            </a:r>
          </a:p>
          <a:p>
            <a:pPr>
              <a:defRPr sz="1800"/>
            </a:pPr>
            <a:r>
              <a:t>Every decision has a human-readable explanation in the audit log and UI.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Limitations and future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Limitations: LLM judge is injectable; small models misclassify; attacks are synthetic;</a:t>
            </a:r>
          </a:p>
          <a:p>
            <a:pPr>
              <a:defRPr sz="1800"/>
            </a:pPr>
            <a:r>
              <a:t>  deep path adds latency; taint tracking is coarse; offline embeddings are weaker.</a:t>
            </a:r>
          </a:p>
          <a:p>
            <a:pPr>
              <a:defRPr sz="1800"/>
            </a:pPr>
            <a:r>
              <a:t>Future: full taint tracking, signed manifests, fine-tuned classifier, A2A protection,</a:t>
            </a:r>
          </a:p>
          <a:p>
            <a:pPr>
              <a:defRPr sz="1800"/>
            </a:pPr>
            <a:r>
              <a:t>  adaptive red-teaming, sidecar deployment with monitoring.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MCPShield lets enterprises adopt untrusted MCP tools safely.</a:t>
            </a:r>
          </a:p>
          <a:p>
            <a:pPr>
              <a:defRPr sz="1800"/>
            </a:pPr>
            <a:r>
              <a:t>It blocks runtime attacks that static review misses, at a low false-positive cost.</a:t>
            </a:r>
          </a:p>
          <a:p>
            <a:pPr>
              <a:defRPr sz="1800"/>
            </a:pPr>
            <a:r>
              <a:t>It leaves a full, explainable audit trail for compliance.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